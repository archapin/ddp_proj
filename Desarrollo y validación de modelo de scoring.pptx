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66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A54CB-8CAD-4969-86E7-84C3BF95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73C58-54F5-4AA9-8533-D300AF759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78263-61F9-4969-BA5B-905B3718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85C2AD-F583-427E-9F2A-6F3FC7DF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FF52D2-0795-4E58-BC34-919C67B8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963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A815F-DAEA-480E-AD45-00326F09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8F735-49D6-45B1-9CD0-FDB4D01B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A63271-A3B5-41D5-8F08-105D9507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955BFD-8F49-4281-9AD4-38C1761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AE759F-E3EC-40C5-8A17-C1746512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4173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E28B5-9F83-4DF3-8547-19205197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B7ED64-9754-4693-B3AA-95434C086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B6A6C-3767-4B3D-95E8-DD202318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91C7A-B16D-4F8B-9245-3EF904DB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E2B6B-5F88-40A2-9499-EF0ABC33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2010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99C9C-2E57-4966-BB20-1BD1C80D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078E8-E218-418F-B85E-70407FC6B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60E5D6-EE4E-4ABA-9EAD-757979F11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929C65-26EA-4E8F-9613-2D96E3E0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2036A0-2FB0-4DEB-9F47-A46CACE9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C030C6-E4DF-47DF-8C46-A9B91BD5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5611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BDAAE-DF9D-4E8F-847A-C24AF923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FC525-3CBA-4FEA-A1B7-AD8ECD375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72D542-B0C9-435A-9F3C-4E1FBB08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ACD7F5-CD03-499F-80F2-4399A3BF9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CA76C6-FD7B-45DA-BA53-A32F83D34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E7F034-9858-4AAF-A4F2-6544D935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CBCBA7-820F-4A58-86F7-F222BA70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A0A391-950C-4F74-AF31-2CCAFFD1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7250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5D4FF-81C5-4C6B-8DFD-95B095CF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3C3D33-4FD3-4505-9489-8BF629B2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B85B4B-9735-4E03-89E3-46BCF7D0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DC9912-FA54-4276-8C9D-43D44C8C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934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961AC2-4F1B-4F5E-B64B-E9555703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3AEC63-0B52-479E-B34B-BFEDE9C9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26898C-AA9A-4FFE-B0CB-3E6EDFE5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3123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CEA0F-B7F7-4061-A00C-9B6DE75B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039331-816D-4D80-8B0E-FFAABC49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4EDBE2-EB52-4BAD-AF4C-57F45353D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C6458C-5D0C-4F9B-B8D1-1D98AAF9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D5091-F402-4DEA-ACF1-A1EC4A68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B102E3-109A-47AC-AB63-08C35D19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540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A0787-080C-48CC-94EE-460572EE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4F03AE-ED2A-4BCA-A17F-A01D3F3D0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946CC6-6161-4D7D-B18B-83B9460B6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9456DA-7495-4EAB-9CEE-995EF2A3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42153D-22B7-45DC-8DA3-F3E7DD8B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9A181C-33E3-452A-A6AC-E157544B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4158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1440B-6729-4446-977D-19ED720C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146BCA-1FF5-47A6-B693-6C4C99269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B8253-1BDE-4DBB-9F29-B502143F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023C8C-A650-44B1-83F4-C6E9592E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C236B-7E61-47A8-A581-9775C98B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1184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C78B8B-8E00-47BD-A2DC-2B0E5FB6A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EFFBF5-EC87-45CB-A472-C41445088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C30205-2FD9-4803-8CC5-29652D18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427848-9B0E-475D-A862-6254BCD4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FAEAF-7A5F-4FCD-B69C-35E56196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8805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F1D1C5-FB2E-40B9-AC18-A96BF6F8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A1A13F-2E5D-4EAF-8AE4-46BBE88BF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15E52-456E-4374-A290-BD2ABA8F9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B78E8-874E-4B47-A201-C57B1ABB822A}" type="datetimeFigureOut">
              <a:rPr lang="es-GT" smtClean="0"/>
              <a:t>18/12/2025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AEFB88-EFBE-42BA-97E0-4F9DF500A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415EB-31B4-48C0-B5BE-3C94D7B4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75E6B-A47C-401C-983F-08E86E5F36E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79003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16471-2696-4629-B751-E2E6F4769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Desarrollo y validación de modelo de scoring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06C3D8-E0AA-4FCD-A8AE-71E87A292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7201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9637D-AFE7-4B32-8661-1405FC41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Proyecto de desarrollo de un scoring de originación de créditos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330587-388C-4FA3-823C-41D72267D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Objetivo general </a:t>
            </a:r>
          </a:p>
          <a:p>
            <a:pPr lvl="1"/>
            <a:r>
              <a:rPr lang="es-MX" dirty="0"/>
              <a:t>Desarrollar un modelo estadístico de scoring crediticio de originación* que permita estimar la probabilidad de incumplimiento o default (PD) del solicitante</a:t>
            </a:r>
          </a:p>
          <a:p>
            <a:pPr marL="0" indent="0">
              <a:buNone/>
            </a:pPr>
            <a:endParaRPr lang="es-MX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66196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7D490-A798-45D2-8E70-3C38CA11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94A755-7F1F-4998-9431-AFF0C366A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Objetivos específicos </a:t>
            </a:r>
          </a:p>
          <a:p>
            <a:pPr lvl="1"/>
            <a:r>
              <a:rPr lang="es-MX" dirty="0"/>
              <a:t>Incrementar aprobaciones sin incrementar mora</a:t>
            </a:r>
          </a:p>
          <a:p>
            <a:pPr lvl="1"/>
            <a:r>
              <a:rPr lang="es-MX" dirty="0"/>
              <a:t>Reducir tiempos de análisis y concesión de créditos</a:t>
            </a:r>
          </a:p>
          <a:p>
            <a:pPr lvl="1"/>
            <a:r>
              <a:rPr lang="es-MX" dirty="0"/>
              <a:t>Realizar precalificaciones</a:t>
            </a:r>
          </a:p>
          <a:p>
            <a:pPr lvl="1"/>
            <a:r>
              <a:rPr lang="es-MX" dirty="0"/>
              <a:t>Mejora de calidad crediticia</a:t>
            </a:r>
          </a:p>
          <a:p>
            <a:pPr lvl="1"/>
            <a:r>
              <a:rPr lang="es-MX" dirty="0"/>
              <a:t>Mantener consistencia regulatoria</a:t>
            </a:r>
          </a:p>
          <a:p>
            <a:pPr lvl="1"/>
            <a:r>
              <a:rPr lang="es-MX" dirty="0"/>
              <a:t>Transparencia del modelo para validaciones internas y externas</a:t>
            </a:r>
          </a:p>
          <a:p>
            <a:pPr lvl="1"/>
            <a:r>
              <a:rPr lang="es-MX" dirty="0"/>
              <a:t>Mantener la tolerancia al riesgo por segmento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532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7D490-A798-45D2-8E70-3C38CA11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GT" sz="3200" dirty="0"/>
              <a:t>Alcance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94A755-7F1F-4998-9431-AFF0C366A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MX" dirty="0"/>
              <a:t>Objetivo de los modelos de scoring de originación:</a:t>
            </a:r>
          </a:p>
          <a:p>
            <a:pPr lvl="1"/>
            <a:r>
              <a:rPr lang="es-MX" dirty="0"/>
              <a:t>El incumplimiento se define como el llegar a 90 o más días de mora en los primeros 12 meses de vida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probabilidad acumulada de incumplimiento de 12 meses es importante para el entorno regulatorio local  y las NIF y NIIF para la estimación de pérdidas esperadas.</a:t>
            </a:r>
          </a:p>
          <a:p>
            <a:pPr lvl="2"/>
            <a:r>
              <a:rPr lang="es-MX" dirty="0"/>
              <a:t>12 meses es un tiempo lo suficientemente largo para observar el comportamiento de diversos clientes en cuanto a incumplimientos.</a:t>
            </a:r>
          </a:p>
          <a:p>
            <a:pPr lvl="2"/>
            <a:r>
              <a:rPr lang="es-MX" dirty="0"/>
              <a:t>Este comportamiento varía de acuerdo al tipo de producto y su plazo, así como a factores macroeconómicos externos.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0942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DDFFD-3E96-4700-94CE-716CAEB3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Mora 90+ por cosecha y producto</a:t>
            </a:r>
            <a:br>
              <a:rPr lang="es-GT" dirty="0"/>
            </a:br>
            <a:r>
              <a:rPr lang="es-GT" sz="2800" dirty="0"/>
              <a:t>Vehículos</a:t>
            </a:r>
            <a:endParaRPr lang="es-GT" dirty="0"/>
          </a:p>
        </p:txBody>
      </p:sp>
      <p:pic>
        <p:nvPicPr>
          <p:cNvPr id="4" name="Marcador de contenido 8">
            <a:extLst>
              <a:ext uri="{FF2B5EF4-FFF2-40B4-BE49-F238E27FC236}">
                <a16:creationId xmlns:a16="http://schemas.microsoft.com/office/drawing/2014/main" id="{1D6B1BCE-EEB9-4863-A2D6-75F99861A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354" y="1825625"/>
            <a:ext cx="101912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5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DDFFD-3E96-4700-94CE-716CAEB3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Mora 90+ por cosecha y producto</a:t>
            </a:r>
            <a:br>
              <a:rPr lang="es-GT" dirty="0"/>
            </a:br>
            <a:r>
              <a:rPr lang="es-GT" sz="2800" dirty="0"/>
              <a:t>Consumo planilla</a:t>
            </a: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5F91FA-8636-4544-96FC-492A53A9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19" y="1690688"/>
            <a:ext cx="10516511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DDFFD-3E96-4700-94CE-716CAEB3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Mora 90+ por cosecha y producto</a:t>
            </a:r>
            <a:br>
              <a:rPr lang="es-GT" dirty="0"/>
            </a:br>
            <a:r>
              <a:rPr lang="es-GT" sz="2800" dirty="0"/>
              <a:t>Vivienda</a:t>
            </a:r>
            <a:endParaRPr lang="es-GT" dirty="0"/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A25AA829-5F70-4358-BAEF-BC6AF68E1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499" y="1825625"/>
            <a:ext cx="104070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8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GT" sz="3200" dirty="0"/>
              <a:t>Alcance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GT" dirty="0"/>
              <a:t>Productos a modelar:</a:t>
            </a:r>
          </a:p>
          <a:p>
            <a:pPr lvl="1"/>
            <a:r>
              <a:rPr lang="es-GT" dirty="0"/>
              <a:t>Consumo libre disponibilidad</a:t>
            </a:r>
          </a:p>
          <a:p>
            <a:pPr lvl="1"/>
            <a:r>
              <a:rPr lang="es-GT" dirty="0"/>
              <a:t>Consumo convenios</a:t>
            </a:r>
          </a:p>
          <a:p>
            <a:pPr lvl="1"/>
            <a:r>
              <a:rPr lang="es-GT" dirty="0"/>
              <a:t>Tarjetas</a:t>
            </a:r>
          </a:p>
          <a:p>
            <a:pPr lvl="1"/>
            <a:r>
              <a:rPr lang="es-GT" dirty="0"/>
              <a:t>Vehículos</a:t>
            </a:r>
          </a:p>
          <a:p>
            <a:pPr lvl="1"/>
            <a:r>
              <a:rPr lang="es-GT" dirty="0"/>
              <a:t>Vivienda</a:t>
            </a:r>
          </a:p>
          <a:p>
            <a:r>
              <a:rPr lang="es-GT" dirty="0"/>
              <a:t>Scoring de originación:</a:t>
            </a:r>
          </a:p>
          <a:p>
            <a:pPr lvl="1"/>
            <a:r>
              <a:rPr lang="es-GT" dirty="0"/>
              <a:t>Scores y sus probabilidades de incumplimiento (de tipo binario: “incumplió” o “no incumplió”)</a:t>
            </a:r>
          </a:p>
          <a:p>
            <a:pPr lvl="1"/>
            <a:r>
              <a:rPr lang="es-GT" dirty="0"/>
              <a:t>Aprendizaje automatizado con enfoque supervisado</a:t>
            </a:r>
          </a:p>
          <a:p>
            <a:r>
              <a:rPr lang="es-GT" dirty="0"/>
              <a:t>Horizontes de desempeño:</a:t>
            </a:r>
          </a:p>
          <a:p>
            <a:pPr lvl="1"/>
            <a:r>
              <a:rPr lang="es-GT" dirty="0"/>
              <a:t>Ventana de observación de 24 meses</a:t>
            </a:r>
          </a:p>
          <a:p>
            <a:pPr lvl="1"/>
            <a:r>
              <a:rPr lang="es-GT" dirty="0"/>
              <a:t>Ventana de desempeño de 12 meses después de originación</a:t>
            </a:r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0351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GT" sz="3200" dirty="0"/>
              <a:t>Alcance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s-GT" dirty="0"/>
              <a:t>Variables internas (clientes nuevos)</a:t>
            </a:r>
          </a:p>
          <a:p>
            <a:pPr lvl="1"/>
            <a:r>
              <a:rPr lang="es-GT" dirty="0"/>
              <a:t>Información de la persona (ingresos, datos laborales, datos domiciliares, edad, familia, productos de crédito)</a:t>
            </a:r>
          </a:p>
          <a:p>
            <a:pPr lvl="0"/>
            <a:r>
              <a:rPr lang="es-GT" dirty="0"/>
              <a:t>Variables internas (clientes conocidos)</a:t>
            </a:r>
          </a:p>
          <a:p>
            <a:pPr lvl="1"/>
            <a:r>
              <a:rPr lang="es-GT" dirty="0"/>
              <a:t>Historial del cliente</a:t>
            </a:r>
          </a:p>
          <a:p>
            <a:pPr lvl="1"/>
            <a:r>
              <a:rPr lang="es-GT" dirty="0"/>
              <a:t>Comportamiento de pago</a:t>
            </a:r>
          </a:p>
          <a:p>
            <a:pPr lvl="1"/>
            <a:r>
              <a:rPr lang="es-GT" dirty="0"/>
              <a:t>Ingresos</a:t>
            </a:r>
          </a:p>
          <a:p>
            <a:pPr lvl="1"/>
            <a:r>
              <a:rPr lang="es-GT" dirty="0"/>
              <a:t>Otros variables de comportamiento (transacciones)</a:t>
            </a:r>
          </a:p>
          <a:p>
            <a:pPr lvl="0"/>
            <a:r>
              <a:rPr lang="es-GT" dirty="0"/>
              <a:t>Variables externas (si aplica):</a:t>
            </a:r>
          </a:p>
          <a:p>
            <a:pPr lvl="1"/>
            <a:r>
              <a:rPr lang="es-GT" dirty="0"/>
              <a:t>SIRC </a:t>
            </a:r>
          </a:p>
          <a:p>
            <a:pPr lvl="2"/>
            <a:r>
              <a:rPr lang="es-GT" dirty="0"/>
              <a:t>Endeudamiento</a:t>
            </a:r>
          </a:p>
          <a:p>
            <a:pPr lvl="2"/>
            <a:r>
              <a:rPr lang="es-GT" dirty="0"/>
              <a:t>Cantidad de créditos</a:t>
            </a:r>
          </a:p>
          <a:p>
            <a:pPr lvl="2"/>
            <a:r>
              <a:rPr lang="es-GT" dirty="0"/>
              <a:t>Historial de comportamiento</a:t>
            </a:r>
          </a:p>
          <a:p>
            <a:pPr lvl="1"/>
            <a:r>
              <a:rPr lang="es-GT" dirty="0" err="1"/>
              <a:t>TransUnion</a:t>
            </a:r>
            <a:endParaRPr lang="es-GT" dirty="0"/>
          </a:p>
          <a:p>
            <a:pPr lvl="2"/>
            <a:r>
              <a:rPr lang="es-GT" dirty="0"/>
              <a:t>Variables a identificar</a:t>
            </a:r>
          </a:p>
          <a:p>
            <a:pPr lvl="1"/>
            <a:r>
              <a:rPr lang="es-GT" dirty="0"/>
              <a:t>Otros informes crediticios</a:t>
            </a:r>
          </a:p>
          <a:p>
            <a:pPr lvl="1"/>
            <a:r>
              <a:rPr lang="es-GT" dirty="0"/>
              <a:t>Otra información</a:t>
            </a:r>
          </a:p>
          <a:p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27456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GT" sz="3200" dirty="0"/>
              <a:t>Alcance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GT" dirty="0"/>
              <a:t>Exclusiones y límites</a:t>
            </a:r>
          </a:p>
          <a:p>
            <a:pPr lvl="1"/>
            <a:r>
              <a:rPr lang="es-GT" dirty="0"/>
              <a:t>A definir productos que no entran </a:t>
            </a:r>
          </a:p>
          <a:p>
            <a:pPr lvl="0"/>
            <a:r>
              <a:rPr lang="es-GT" dirty="0"/>
              <a:t>Segmentos específicos excluidos</a:t>
            </a:r>
          </a:p>
          <a:p>
            <a:pPr lvl="1"/>
            <a:r>
              <a:rPr lang="es-GT" dirty="0"/>
              <a:t>A definir si se excluyen segmentos</a:t>
            </a:r>
          </a:p>
          <a:p>
            <a:pPr lvl="0"/>
            <a:r>
              <a:rPr lang="es-GT" dirty="0"/>
              <a:t>Límites regulatorios aplicables</a:t>
            </a:r>
          </a:p>
          <a:p>
            <a:pPr lvl="1"/>
            <a:r>
              <a:rPr lang="es-GT" dirty="0"/>
              <a:t>Si aplica, evaluación de la regulación y la normativa interna para aplicación de límites</a:t>
            </a:r>
          </a:p>
          <a:p>
            <a:pPr marL="0" indent="0">
              <a:buNone/>
            </a:pP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4527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GT" sz="3200" dirty="0"/>
              <a:t>Definición de incumplimiento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GT" dirty="0"/>
              <a:t>Se define que un cliente ha incumplido si se da una de las siguientes condiciones:</a:t>
            </a:r>
          </a:p>
          <a:p>
            <a:pPr lvl="1"/>
            <a:r>
              <a:rPr lang="es-GT" dirty="0"/>
              <a:t>Si el cliente ha caído en mora de 90 o más días dentro de los primeros 12 meses después de la originación.</a:t>
            </a:r>
          </a:p>
          <a:p>
            <a:pPr lvl="1"/>
            <a:r>
              <a:rPr lang="es-GT" dirty="0"/>
              <a:t>Si el crédito ha sido considerado vencido o castigado.</a:t>
            </a:r>
          </a:p>
          <a:p>
            <a:pPr marL="0" indent="0">
              <a:buNone/>
            </a:pP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203528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MX" sz="3200" dirty="0"/>
              <a:t>Validaciones de datos requeridas por riesgos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GT" dirty="0"/>
              <a:t>¿Fuentes de datos?:</a:t>
            </a:r>
          </a:p>
          <a:p>
            <a:pPr lvl="1"/>
            <a:r>
              <a:rPr lang="es-GT" dirty="0"/>
              <a:t>Fuente y periodo de información</a:t>
            </a:r>
          </a:p>
          <a:p>
            <a:pPr lvl="0"/>
            <a:r>
              <a:rPr lang="es-GT" dirty="0"/>
              <a:t>Período de datos suficientemente largo para garantizar estabilidad (2 años)</a:t>
            </a:r>
          </a:p>
          <a:p>
            <a:pPr lvl="0"/>
            <a:r>
              <a:rPr lang="es-GT" dirty="0"/>
              <a:t>Datos representativos que reflejen los clientes objetivo, el período de tiempo, la mezcla de productos y asuntos demográficos.</a:t>
            </a:r>
          </a:p>
          <a:p>
            <a:pPr lvl="0"/>
            <a:r>
              <a:rPr lang="es-GT" dirty="0"/>
              <a:t>Datos que tengan poder de discriminación y otros datos que podrían ser de utilidad para discriminar finamente</a:t>
            </a:r>
          </a:p>
          <a:p>
            <a:pPr lvl="0"/>
            <a:r>
              <a:rPr lang="es-GT" dirty="0"/>
              <a:t>Datos de originación, desembolso, comportamiento e incumplimiento.</a:t>
            </a:r>
          </a:p>
          <a:p>
            <a:pPr lvl="0"/>
            <a:r>
              <a:rPr lang="es-GT" dirty="0"/>
              <a:t>Definición de variables críticas</a:t>
            </a:r>
          </a:p>
          <a:p>
            <a:pPr lvl="0"/>
            <a:r>
              <a:rPr lang="es-GT" dirty="0"/>
              <a:t>Limpieza y transformación de datos</a:t>
            </a:r>
          </a:p>
          <a:p>
            <a:pPr lvl="0"/>
            <a:r>
              <a:rPr lang="es-GT" dirty="0"/>
              <a:t>Tratamiento de datos atípicos, duplicados, faltantes, inconsistentes, etc.</a:t>
            </a:r>
          </a:p>
          <a:p>
            <a:r>
              <a:rPr lang="es-GT" dirty="0"/>
              <a:t>Criterios de exclusión de datos por mala calidad.</a:t>
            </a:r>
          </a:p>
          <a:p>
            <a:pPr marL="0" indent="0">
              <a:buNone/>
            </a:pP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91462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MX" sz="3200" dirty="0"/>
              <a:t>Validaciones de datos requeridas por riesgos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MX" dirty="0"/>
              <a:t>Metodologías</a:t>
            </a:r>
          </a:p>
          <a:p>
            <a:pPr lvl="1"/>
            <a:r>
              <a:rPr lang="es-MX" dirty="0"/>
              <a:t>Evaluar diferentes modelos considerando los datos obtenidos y los objetivos del modelo.</a:t>
            </a:r>
          </a:p>
          <a:p>
            <a:pPr marL="0" indent="0">
              <a:buNone/>
            </a:pP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71492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MX" sz="3200" dirty="0"/>
              <a:t>Documentación y reportes técnicos requeridos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s-GT" dirty="0"/>
              <a:t>Metodología</a:t>
            </a:r>
          </a:p>
          <a:p>
            <a:pPr lvl="1"/>
            <a:r>
              <a:rPr lang="es-GT" dirty="0"/>
              <a:t>Muestreo</a:t>
            </a:r>
          </a:p>
          <a:p>
            <a:pPr lvl="0"/>
            <a:r>
              <a:rPr lang="es-GT" dirty="0"/>
              <a:t>Pruebas de estabilidad y validación del modelo</a:t>
            </a:r>
          </a:p>
          <a:p>
            <a:pPr lvl="0"/>
            <a:r>
              <a:rPr lang="es-GT" dirty="0"/>
              <a:t>Variables y su poder de discriminación</a:t>
            </a:r>
          </a:p>
          <a:p>
            <a:pPr lvl="0"/>
            <a:r>
              <a:rPr lang="es-GT" dirty="0">
                <a:highlight>
                  <a:srgbClr val="FFFF00"/>
                </a:highlight>
              </a:rPr>
              <a:t>Interpretabilidad del modelo</a:t>
            </a:r>
          </a:p>
          <a:p>
            <a:pPr lvl="0"/>
            <a:r>
              <a:rPr lang="es-GT" dirty="0">
                <a:highlight>
                  <a:srgbClr val="00FF00"/>
                </a:highlight>
              </a:rPr>
              <a:t>Indicadores de desempeño del modelo</a:t>
            </a:r>
          </a:p>
          <a:p>
            <a:pPr lvl="0"/>
            <a:r>
              <a:rPr lang="es-GT" dirty="0" err="1"/>
              <a:t>Scorecard</a:t>
            </a:r>
            <a:r>
              <a:rPr lang="es-GT" dirty="0"/>
              <a:t> con rangos de scores, sus estadísticas por rango, etc.</a:t>
            </a:r>
          </a:p>
          <a:p>
            <a:pPr lvl="0"/>
            <a:r>
              <a:rPr lang="es-GT" dirty="0"/>
              <a:t>Reglas de corte</a:t>
            </a:r>
          </a:p>
          <a:p>
            <a:pPr lvl="0"/>
            <a:r>
              <a:rPr lang="es-GT" dirty="0" err="1">
                <a:highlight>
                  <a:srgbClr val="00FF00"/>
                </a:highlight>
              </a:rPr>
              <a:t>Backtesting</a:t>
            </a:r>
            <a:endParaRPr lang="es-GT" dirty="0">
              <a:highlight>
                <a:srgbClr val="00FF00"/>
              </a:highlight>
            </a:endParaRPr>
          </a:p>
          <a:p>
            <a:pPr lvl="0"/>
            <a:r>
              <a:rPr lang="es-GT" dirty="0"/>
              <a:t>Diccionarios de variables</a:t>
            </a:r>
          </a:p>
          <a:p>
            <a:pPr lvl="0"/>
            <a:r>
              <a:rPr lang="es-GT" dirty="0"/>
              <a:t>Fórmulas de scoring</a:t>
            </a:r>
          </a:p>
          <a:p>
            <a:pPr lvl="0"/>
            <a:r>
              <a:rPr lang="es-GT" dirty="0"/>
              <a:t>Validaciones en ambiente productivo (después de validación de riesgos)</a:t>
            </a:r>
          </a:p>
          <a:p>
            <a:r>
              <a:rPr lang="es-GT" dirty="0"/>
              <a:t>Otra documentación necesaria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22675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70B8-1A0C-4048-85BF-54A1D5DD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Desarrollo de modelo de scoring</a:t>
            </a:r>
            <a:br>
              <a:rPr lang="es-GT" dirty="0"/>
            </a:br>
            <a:r>
              <a:rPr lang="es-MX" sz="3200" dirty="0"/>
              <a:t>Cumplimiento interno y externo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776F-F4B3-499F-9340-EDCADD23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GT" dirty="0"/>
              <a:t>Validación y cumplimiento de normas de administración de riesgos</a:t>
            </a:r>
          </a:p>
          <a:p>
            <a:pPr lvl="0"/>
            <a:r>
              <a:rPr lang="es-GT" dirty="0"/>
              <a:t>Validación y cumplimiento interno de sistemas.</a:t>
            </a:r>
          </a:p>
          <a:p>
            <a:pPr lvl="0"/>
            <a:r>
              <a:rPr lang="es-GT" dirty="0"/>
              <a:t>Validación y cumplimento de auditoría interna</a:t>
            </a:r>
          </a:p>
          <a:p>
            <a:pPr lvl="0"/>
            <a:r>
              <a:rPr lang="es-GT" dirty="0"/>
              <a:t>Validación y cumplimiento de la SIB, si aplica.</a:t>
            </a:r>
          </a:p>
        </p:txBody>
      </p:sp>
    </p:spTree>
    <p:extLst>
      <p:ext uri="{BB962C8B-B14F-4D97-AF65-F5344CB8AC3E}">
        <p14:creationId xmlns:p14="http://schemas.microsoft.com/office/powerpoint/2010/main" val="1403673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84D46-2DA5-43D5-8F2F-9248FA31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 de validación de modelos de Scoring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D9C734-4868-4CF9-A3E8-E14CF895B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97303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Marco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Funciones de la Gerencia de Administración de Riesgos, dentro de la segunda línea de defensa:</a:t>
            </a:r>
          </a:p>
          <a:p>
            <a:pPr lvl="1"/>
            <a:r>
              <a:rPr lang="es-GT" dirty="0"/>
              <a:t>Evaluar las metodologías de medición de riesgos</a:t>
            </a:r>
          </a:p>
          <a:p>
            <a:pPr lvl="1"/>
            <a:r>
              <a:rPr lang="es-GT" dirty="0"/>
              <a:t>la validación del desempeño, supuestos y riesgos de modelo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95052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Objetivo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Evaluar de manera independiente la calidad de los modelos de Scoring en los aspectos de metodología, desempeño, supuestos y riesgos.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99437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Validaciones a realizar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GT" dirty="0"/>
              <a:t>Evaluar los objetivos, supuestos y metodologías de los modelos de Scoring y su alineación con los requerimientos y modelo de negocio</a:t>
            </a:r>
          </a:p>
          <a:p>
            <a:pPr lvl="0"/>
            <a:r>
              <a:rPr lang="es-GT" dirty="0"/>
              <a:t>Evaluar los datos utilizados, su extracción, procesamiento y su uso dentro de los modelos, así como la calidad, representatividad y alcance de los mismos.</a:t>
            </a:r>
          </a:p>
          <a:p>
            <a:pPr lvl="0"/>
            <a:r>
              <a:rPr lang="es-GT" dirty="0"/>
              <a:t>Cumplimiento regulatorio e interno, dentro del alcance y responsabilidad de la Gerencia de Administración de Riesgos.</a:t>
            </a:r>
          </a:p>
          <a:p>
            <a:pPr lvl="0"/>
            <a:r>
              <a:rPr lang="es-GT" dirty="0"/>
              <a:t>Gobernanza de los modelos y del desarrollo de los mismos, dentro del alcance y responsabilidad de la Gerencia de Administración de Riesgos.</a:t>
            </a:r>
          </a:p>
        </p:txBody>
      </p:sp>
    </p:spTree>
    <p:extLst>
      <p:ext uri="{BB962C8B-B14F-4D97-AF65-F5344CB8AC3E}">
        <p14:creationId xmlns:p14="http://schemas.microsoft.com/office/powerpoint/2010/main" val="560079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Validaciones a realizar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GT"/>
              <a:t>Evaluar </a:t>
            </a:r>
            <a:r>
              <a:rPr lang="es-GT" dirty="0"/>
              <a:t>el poder de discriminación de los modelos.</a:t>
            </a:r>
          </a:p>
          <a:p>
            <a:pPr lvl="0"/>
            <a:r>
              <a:rPr lang="es-GT" dirty="0"/>
              <a:t>Evaluar la estabilidad de los modelos.</a:t>
            </a:r>
          </a:p>
          <a:p>
            <a:pPr lvl="0"/>
            <a:r>
              <a:rPr lang="es-GT" dirty="0"/>
              <a:t>Evaluar el ajuste y la calibración de los modelos.</a:t>
            </a:r>
          </a:p>
          <a:p>
            <a:pPr lvl="0"/>
            <a:r>
              <a:rPr lang="es-GT" dirty="0"/>
              <a:t>Evaluar la sensibilidad de los modelos en escenarios de tensión sobre variables de entrada.</a:t>
            </a:r>
          </a:p>
          <a:p>
            <a:r>
              <a:rPr lang="es-GT" dirty="0"/>
              <a:t>Evaluar el </a:t>
            </a:r>
            <a:r>
              <a:rPr lang="es-GT" dirty="0" err="1"/>
              <a:t>backtesting</a:t>
            </a:r>
            <a:r>
              <a:rPr lang="es-GT"/>
              <a:t>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39994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Validaciones específicas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GT" dirty="0"/>
              <a:t>La documentación del desarrollo del modelo</a:t>
            </a:r>
          </a:p>
          <a:p>
            <a:pPr lvl="0"/>
            <a:r>
              <a:rPr lang="es-GT" dirty="0"/>
              <a:t>El proceso de datos y su uso dentro de los modelos</a:t>
            </a:r>
          </a:p>
          <a:p>
            <a:pPr lvl="1"/>
            <a:r>
              <a:rPr lang="es-GT" dirty="0"/>
              <a:t>Los datos de los clientes y sus fuentes</a:t>
            </a:r>
          </a:p>
          <a:p>
            <a:pPr lvl="1"/>
            <a:r>
              <a:rPr lang="es-GT" dirty="0"/>
              <a:t>Representatividad de los datos</a:t>
            </a:r>
          </a:p>
          <a:p>
            <a:pPr lvl="1"/>
            <a:r>
              <a:rPr lang="es-GT" dirty="0"/>
              <a:t>Recolección, limpieza y transformación de datos, </a:t>
            </a:r>
          </a:p>
          <a:p>
            <a:pPr lvl="0"/>
            <a:r>
              <a:rPr lang="es-GT" dirty="0"/>
              <a:t>Los resultados y se contrastarán contra los objetivos, supuestos y riesgos de modelo</a:t>
            </a:r>
          </a:p>
          <a:p>
            <a:pPr lvl="0"/>
            <a:r>
              <a:rPr lang="es-GT" dirty="0"/>
              <a:t>Aspectos específicos de los modelos, tales como:</a:t>
            </a:r>
          </a:p>
          <a:p>
            <a:pPr lvl="1"/>
            <a:r>
              <a:rPr lang="es-GT" dirty="0"/>
              <a:t>Variables de entrada</a:t>
            </a:r>
          </a:p>
          <a:p>
            <a:pPr lvl="1"/>
            <a:r>
              <a:rPr lang="es-GT" dirty="0"/>
              <a:t>Desempeño medido por KS, AUC, Gini, PSI, ROC, etc.</a:t>
            </a:r>
          </a:p>
        </p:txBody>
      </p:sp>
    </p:spTree>
    <p:extLst>
      <p:ext uri="{BB962C8B-B14F-4D97-AF65-F5344CB8AC3E}">
        <p14:creationId xmlns:p14="http://schemas.microsoft.com/office/powerpoint/2010/main" val="817937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995F-3FBE-49FA-8F00-9278067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Validación de modelo de scoring</a:t>
            </a:r>
            <a:br>
              <a:rPr lang="es-GT" dirty="0"/>
            </a:br>
            <a:r>
              <a:rPr lang="es-GT" sz="3200" dirty="0"/>
              <a:t>Validaciones específicas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85DF75-5959-4F47-8CFE-51FFBFAE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s-GT"/>
              <a:t>Ponderaciones</a:t>
            </a:r>
            <a:r>
              <a:rPr lang="es-GT" dirty="0"/>
              <a:t>, poder predictivo de variables</a:t>
            </a:r>
          </a:p>
          <a:p>
            <a:pPr lvl="1"/>
            <a:r>
              <a:rPr lang="es-GT" dirty="0"/>
              <a:t>Valor de información de variables</a:t>
            </a:r>
          </a:p>
          <a:p>
            <a:pPr lvl="1"/>
            <a:r>
              <a:rPr lang="es-GT" dirty="0"/>
              <a:t>Tablas de Scoring con sus estadísticas por rangos</a:t>
            </a:r>
          </a:p>
          <a:p>
            <a:pPr lvl="1"/>
            <a:r>
              <a:rPr lang="es-GT" dirty="0"/>
              <a:t>Umbrales sugeridos o puntos de cortes</a:t>
            </a:r>
          </a:p>
          <a:p>
            <a:pPr lvl="2"/>
            <a:r>
              <a:rPr lang="es-GT" dirty="0"/>
              <a:t>Establecidas con base a la pérdida esperada (en casos) por cosecha y el tamaño de la población esperada</a:t>
            </a:r>
          </a:p>
          <a:p>
            <a:pPr lvl="1"/>
            <a:r>
              <a:rPr lang="es-GT" dirty="0"/>
              <a:t>Selección de modelos</a:t>
            </a:r>
          </a:p>
          <a:p>
            <a:pPr lvl="0"/>
            <a:r>
              <a:rPr lang="es-GT" dirty="0"/>
              <a:t>Otros elementos relevantes del desarrollo de los modelos, como inferencias en clientes rechazados, etc.</a:t>
            </a:r>
          </a:p>
          <a:p>
            <a:pPr lvl="0"/>
            <a:r>
              <a:rPr lang="es-GT" dirty="0"/>
              <a:t>El desempeño de los modelos con otras muestras, incluyendo pruebas en retrospectiva (</a:t>
            </a:r>
            <a:r>
              <a:rPr lang="es-GT" dirty="0" err="1"/>
              <a:t>backtesting</a:t>
            </a:r>
            <a:r>
              <a:rPr lang="es-GT" dirty="0"/>
              <a:t>).</a:t>
            </a:r>
          </a:p>
          <a:p>
            <a:pPr lvl="0"/>
            <a:r>
              <a:rPr lang="es-GT" dirty="0"/>
              <a:t>El desempeño del modelo versus el desempeño del análisis manual.</a:t>
            </a:r>
          </a:p>
          <a:p>
            <a:r>
              <a:rPr lang="es-GT"/>
              <a:t>Otros elementos relevantes para el proceso de validación.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903388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1145</Words>
  <Application>Microsoft Office PowerPoint</Application>
  <PresentationFormat>Panorámica</PresentationFormat>
  <Paragraphs>136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Desarrollo y validación de modelo de scoring</vt:lpstr>
      <vt:lpstr>Proyecto de desarrollo de un scoring de originación de créditos</vt:lpstr>
      <vt:lpstr>Desarrollo de modelo de scoring</vt:lpstr>
      <vt:lpstr>Desarrollo de modelo de scoring Alcance</vt:lpstr>
      <vt:lpstr>Mora 90+ por cosecha y producto Vehículos</vt:lpstr>
      <vt:lpstr>Mora 90+ por cosecha y producto Consumo planilla</vt:lpstr>
      <vt:lpstr>Mora 90+ por cosecha y producto Vivienda</vt:lpstr>
      <vt:lpstr>Desarrollo de modelo de scoring Alcance</vt:lpstr>
      <vt:lpstr>Desarrollo de modelo de scoring Alcance</vt:lpstr>
      <vt:lpstr>Desarrollo de modelo de scoring Alcance</vt:lpstr>
      <vt:lpstr>Desarrollo de modelo de scoring Definición de incumplimiento</vt:lpstr>
      <vt:lpstr>Desarrollo de modelo de scoring Validaciones de datos requeridas por riesgos</vt:lpstr>
      <vt:lpstr>Desarrollo de modelo de scoring Validaciones de datos requeridas por riesgos</vt:lpstr>
      <vt:lpstr>Desarrollo de modelo de scoring Documentación y reportes técnicos requeridos</vt:lpstr>
      <vt:lpstr>Desarrollo de modelo de scoring Cumplimiento interno y externo</vt:lpstr>
      <vt:lpstr>Plan de validación de modelos de Scoring</vt:lpstr>
      <vt:lpstr>Validación de modelo de scoring Marco</vt:lpstr>
      <vt:lpstr>Validación de modelo de scoring Objetivo</vt:lpstr>
      <vt:lpstr>Validación de modelo de scoring Validaciones a realizar</vt:lpstr>
      <vt:lpstr>Validación de modelo de scoring Validaciones a realizar</vt:lpstr>
      <vt:lpstr>Validación de modelo de scoring Validaciones específicas</vt:lpstr>
      <vt:lpstr>Validación de modelo de scoring Validaciones específicas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y validación de modelo de scoring</dc:title>
  <dc:creator>Antonio Rene Hernandez Cordero</dc:creator>
  <cp:lastModifiedBy>Antonio Rene Hernandez Cordero</cp:lastModifiedBy>
  <cp:revision>8</cp:revision>
  <dcterms:created xsi:type="dcterms:W3CDTF">2025-12-19T00:08:03Z</dcterms:created>
  <dcterms:modified xsi:type="dcterms:W3CDTF">2025-12-19T04:06:21Z</dcterms:modified>
</cp:coreProperties>
</file>